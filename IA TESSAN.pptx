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24"/>
  </p:notesMasterIdLst>
  <p:handoutMasterIdLst>
    <p:handoutMasterId r:id="rId25"/>
  </p:handoutMasterIdLst>
  <p:sldIdLst>
    <p:sldId id="298" r:id="rId4"/>
    <p:sldId id="308" r:id="rId5"/>
    <p:sldId id="309" r:id="rId6"/>
    <p:sldId id="283" r:id="rId7"/>
    <p:sldId id="297" r:id="rId8"/>
    <p:sldId id="299" r:id="rId9"/>
    <p:sldId id="300" r:id="rId10"/>
    <p:sldId id="306" r:id="rId11"/>
    <p:sldId id="305" r:id="rId12"/>
    <p:sldId id="307" r:id="rId13"/>
    <p:sldId id="301" r:id="rId14"/>
    <p:sldId id="302" r:id="rId15"/>
    <p:sldId id="303" r:id="rId16"/>
    <p:sldId id="304" r:id="rId17"/>
    <p:sldId id="310" r:id="rId18"/>
    <p:sldId id="311" r:id="rId19"/>
    <p:sldId id="312" r:id="rId20"/>
    <p:sldId id="296" r:id="rId21"/>
    <p:sldId id="313" r:id="rId22"/>
    <p:sldId id="281" r:id="rId2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574" autoAdjust="0"/>
  </p:normalViewPr>
  <p:slideViewPr>
    <p:cSldViewPr snapToGrid="0">
      <p:cViewPr varScale="1">
        <p:scale>
          <a:sx n="72" d="100"/>
          <a:sy n="72" d="100"/>
        </p:scale>
        <p:origin x="88" y="3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0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B651C5-239C-481D-B679-C1853F3D7869}" type="datetime1">
              <a:rPr lang="fr-FR" smtClean="0"/>
              <a:t>24/03/2026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3F468-A24C-40BA-9BA0-927B9D8CEF08}" type="datetime1">
              <a:rPr lang="fr-FR" smtClean="0"/>
              <a:pPr/>
              <a:t>24/03/2026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276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965944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499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C'est une façon de décrire </a:t>
            </a:r>
            <a:r>
              <a:rPr lang="fr-FR" b="1" dirty="0"/>
              <a:t>comment un son sonne</a:t>
            </a:r>
            <a:r>
              <a:rPr lang="fr-FR" dirty="0"/>
              <a:t>.</a:t>
            </a:r>
          </a:p>
          <a:p>
            <a:r>
              <a:rPr lang="fr-FR" dirty="0"/>
              <a:t>L'oreille humaine n'entend pas toutes les fréquences de la même façon — elle est plus sensible aux fréquences moyennes. Les MFCC imitent exactement ça. C'est pour ça que </a:t>
            </a:r>
            <a:r>
              <a:rPr lang="fr-FR" dirty="0" err="1"/>
              <a:t>Shazam</a:t>
            </a:r>
            <a:r>
              <a:rPr lang="fr-FR" dirty="0"/>
              <a:t> et Siri utilisent cette technique.</a:t>
            </a:r>
          </a:p>
          <a:p>
            <a:r>
              <a:rPr lang="fr-FR" dirty="0"/>
              <a:t>MFCC_0 → énergie globale du son MFCC_1 → graves vs aigus MFCC_2 → détail un peu plus fin ... MFCC_39 → détail très fin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716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C'est le modèle qui ressemble le plus au cerveau humain. Il est composé de couches de neurones artificiels connectés entre eux.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somme pondérée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 =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w₁x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₁ +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w₂x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₂ + ... + w₁₃₇x₁₃₇ + b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8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30587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L'équation de l'hyperplan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w·x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b = 0</a:t>
            </a:r>
          </a:p>
          <a:p>
            <a:r>
              <a:rPr lang="fr-FR" dirty="0"/>
              <a:t>w = vecteur normal à l'hyperplan x = point de données (les 137 chiffres) b = biais</a:t>
            </a:r>
          </a:p>
          <a:p>
            <a:r>
              <a:rPr lang="fr-FR" dirty="0"/>
              <a:t>Marge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58768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11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73760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620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19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55194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984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360000" rIns="252000" bIns="180000" rtlCol="0" anchor="t">
            <a:noAutofit/>
          </a:bodyPr>
          <a:lstStyle>
            <a:lvl1pPr algn="r">
              <a:defRPr lang="en-ZA" sz="4000" b="1" spc="-300" dirty="0"/>
            </a:lvl1pPr>
          </a:lstStyle>
          <a:p>
            <a:pPr lvl="0" algn="r" rtl="0"/>
            <a:r>
              <a:rPr lang="fr-FR" noProof="0" dirty="0"/>
              <a:t>Cliquez pour modifier le 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fr-FR" noProof="0"/>
              <a:t>Modifiez le style des sous-titres du masque</a:t>
            </a: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éparation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</a:t>
            </a:r>
            <a:br>
              <a:rPr lang="fr-FR" noProof="0" dirty="0"/>
            </a:br>
            <a:r>
              <a:rPr lang="fr-FR" noProof="0" dirty="0"/>
              <a:t>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324000" rIns="252000" bIns="180000" rtlCol="0" anchor="t">
            <a:noAutofit/>
          </a:bodyPr>
          <a:lstStyle>
            <a:lvl1pPr algn="r">
              <a:defRPr lang="en-ZA" sz="4800" b="1" spc="-300" dirty="0"/>
            </a:lvl1pPr>
          </a:lstStyle>
          <a:p>
            <a:pPr lvl="0" algn="r" rtl="0"/>
            <a:r>
              <a:rPr lang="fr-FR" noProof="0" dirty="0"/>
              <a:t>Cliquez pour modifier le séparateur de section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éparation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</a:t>
            </a:r>
            <a:br>
              <a:rPr lang="fr-FR" noProof="0" dirty="0"/>
            </a:br>
            <a:r>
              <a:rPr lang="fr-FR" noProof="0" dirty="0"/>
              <a:t>votre photo ici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4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Cliquez pour modifier le séparateur de section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Modifiez le style des sous-titres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Text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36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Image du tex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4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e comparaison gauche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e comparaison gauche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Entrez votre légende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de votre atten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08000" tIns="108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4000" b="1" spc="-300" dirty="0"/>
            </a:lvl1pPr>
          </a:lstStyle>
          <a:p>
            <a:pPr lvl="0" algn="r" rtl="0"/>
            <a:r>
              <a:rPr lang="fr-FR" noProof="0" dirty="0"/>
              <a:t>Merci de votre attention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Nom complet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Numéro de téléphone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Poignée E-mail ou Réseaux sociaux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Site web de l’entreprise</a:t>
            </a:r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4" name="Espace réservé du numéro de diapositive 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4" name="Zone de texte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30153"/>
            <a:ext cx="1053900" cy="365535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fr-FR" sz="2500" b="1" i="0" spc="-100" noProof="0">
                <a:solidFill>
                  <a:schemeClr val="accent1"/>
                </a:solidFill>
                <a:latin typeface="+mj-lt"/>
              </a:rPr>
              <a:t>TREY</a:t>
            </a:r>
            <a:r>
              <a:rPr lang="fr-FR" sz="1600" b="1" i="0" spc="-100" noProof="0">
                <a:solidFill>
                  <a:schemeClr val="accent1"/>
                </a:solidFill>
                <a:latin typeface="+mj-lt"/>
              </a:rPr>
              <a:t> </a:t>
            </a:r>
            <a:br>
              <a:rPr lang="fr-FR" sz="1600" b="1" i="0" spc="-100" baseline="0" noProof="0">
                <a:solidFill>
                  <a:schemeClr val="accent1"/>
                </a:solidFill>
                <a:latin typeface="+mj-lt"/>
              </a:rPr>
            </a:br>
            <a:r>
              <a:rPr lang="fr-FR" sz="1200" b="0" i="0" spc="140" noProof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9" name="Rectangle 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d’image 11" descr="Mains rassemblées en cercle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tIns="216000" rtlCol="0"/>
          <a:lstStyle/>
          <a:p>
            <a:pPr rtl="0"/>
            <a:r>
              <a:rPr lang="fr-FR" sz="6000" dirty="0"/>
              <a:t>IA TESSAN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pPr rtl="0"/>
            <a:r>
              <a:rPr lang="fr-FR" dirty="0"/>
              <a:t>PIZZARDI,GHANNOUDI,MEDOR,ESSADIKI	</a:t>
            </a:r>
          </a:p>
        </p:txBody>
      </p:sp>
      <p:sp>
        <p:nvSpPr>
          <p:cNvPr id="51" name="Zone de texte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10284923" y="4286684"/>
            <a:ext cx="1402741" cy="304621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 rtl="0">
              <a:lnSpc>
                <a:spcPts val="1400"/>
              </a:lnSpc>
            </a:pPr>
            <a:r>
              <a:rPr lang="fr-FR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IAWA2A3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E49823-4F80-F62F-84D0-2314A9D76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4690" y="-86208"/>
            <a:ext cx="12558516" cy="709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C297AADE-C009-DFB8-558B-DCFB31EA0A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599" r="-1" b="-1"/>
          <a:stretch>
            <a:fillRect/>
          </a:stretch>
        </p:blipFill>
        <p:spPr>
          <a:xfrm>
            <a:off x="120650" y="68263"/>
            <a:ext cx="11518900" cy="6234112"/>
          </a:xfrm>
          <a:prstGeom prst="rect">
            <a:avLst/>
          </a:prstGeom>
          <a:noFill/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0901F6-4B97-FAF2-22B6-4FBE8704343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2000" y="6439820"/>
            <a:ext cx="5664000" cy="295062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 hidden="1">
            <a:extLst>
              <a:ext uri="{FF2B5EF4-FFF2-40B4-BE49-F238E27FC236}">
                <a16:creationId xmlns:a16="http://schemas.microsoft.com/office/drawing/2014/main" id="{15BE6BE0-0F38-8BCF-C2D0-D660B0ED16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60000" y="6371351"/>
            <a:ext cx="432000" cy="4320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05939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0A17DFE-9B94-87C2-A126-2A1F359F9A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32000" y="6439820"/>
            <a:ext cx="5664000" cy="295062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9946EA-D009-73C0-95B5-102C0BF9F13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60000" y="6371351"/>
            <a:ext cx="432000" cy="43200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3</a:t>
            </a:fld>
            <a:endParaRPr lang="fr-FR" noProof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0C6AC4B-BE28-A14D-7A22-97566B31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</p:spPr>
        <p:txBody>
          <a:bodyPr/>
          <a:lstStyle/>
          <a:p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5F75AAF-CBD7-ECD3-58C7-45C3B29D8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894"/>
            <a:ext cx="12192000" cy="686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58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0993B1DC-603C-985C-F5D1-B7920C23282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01670386"/>
              </p:ext>
            </p:extLst>
          </p:nvPr>
        </p:nvGraphicFramePr>
        <p:xfrm>
          <a:off x="976745" y="1447800"/>
          <a:ext cx="4364182" cy="3492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4385">
                  <a:extLst>
                    <a:ext uri="{9D8B030D-6E8A-4147-A177-3AD203B41FA5}">
                      <a16:colId xmlns:a16="http://schemas.microsoft.com/office/drawing/2014/main" val="3495928027"/>
                    </a:ext>
                  </a:extLst>
                </a:gridCol>
                <a:gridCol w="2559797">
                  <a:extLst>
                    <a:ext uri="{9D8B030D-6E8A-4147-A177-3AD203B41FA5}">
                      <a16:colId xmlns:a16="http://schemas.microsoft.com/office/drawing/2014/main" val="1961912292"/>
                    </a:ext>
                  </a:extLst>
                </a:gridCol>
              </a:tblGrid>
              <a:tr h="645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50" dirty="0">
                          <a:effectLst/>
                        </a:rPr>
                        <a:t>Script</a:t>
                      </a:r>
                      <a:endParaRPr lang="fr-FR" sz="1000" dirty="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50">
                          <a:effectLst/>
                        </a:rPr>
                        <a:t>Rôle</a:t>
                      </a:r>
                      <a:endParaRPr lang="fr-FR" sz="100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4185616152"/>
                  </a:ext>
                </a:extLst>
              </a:tr>
              <a:tr h="978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50" b="1" dirty="0">
                          <a:effectLst/>
                        </a:rPr>
                        <a:t>01_extract_features.py</a:t>
                      </a:r>
                      <a:endParaRPr lang="fr-FR" sz="1000" b="1" dirty="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Extraction MFCC (137 features)</a:t>
                      </a:r>
                      <a:endParaRPr lang="fr-FR" sz="100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450274829"/>
                  </a:ext>
                </a:extLst>
              </a:tr>
              <a:tr h="622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50" b="1" dirty="0">
                          <a:effectLst/>
                        </a:rPr>
                        <a:t>02_train.py</a:t>
                      </a:r>
                      <a:endParaRPr lang="fr-FR" sz="1000" b="1" dirty="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effectLst/>
                        </a:rPr>
                        <a:t>Entraînement Random Forest</a:t>
                      </a:r>
                      <a:endParaRPr lang="fr-FR" sz="100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638383822"/>
                  </a:ext>
                </a:extLst>
              </a:tr>
              <a:tr h="622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50" b="1" dirty="0">
                          <a:effectLst/>
                        </a:rPr>
                        <a:t>03_evaluate.py</a:t>
                      </a:r>
                      <a:endParaRPr lang="fr-FR" sz="1000" b="1" dirty="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>
                          <a:effectLst/>
                        </a:rPr>
                        <a:t>Métriques + courbes ROC</a:t>
                      </a:r>
                      <a:endParaRPr lang="fr-FR" sz="1000" dirty="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381725943"/>
                  </a:ext>
                </a:extLst>
              </a:tr>
              <a:tr h="622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50" b="1" dirty="0">
                          <a:effectLst/>
                        </a:rPr>
                        <a:t>Predic.py</a:t>
                      </a:r>
                      <a:endParaRPr lang="fr-FR" sz="1000" b="1" dirty="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>
                          <a:solidFill>
                            <a:srgbClr val="1A2B3C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Prédiction</a:t>
                      </a:r>
                      <a:endParaRPr lang="fr-FR" sz="1000" dirty="0">
                        <a:solidFill>
                          <a:srgbClr val="1A2B3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988592703"/>
                  </a:ext>
                </a:extLst>
              </a:tr>
            </a:tbl>
          </a:graphicData>
        </a:graphic>
      </p:graphicFrame>
      <p:pic>
        <p:nvPicPr>
          <p:cNvPr id="9" name="Espace réservé d’image 8" descr="Mains sur un téléphone portable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angle 19" descr="Bloc d’accentuation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z="4800" dirty="0"/>
              <a:t>À propos de nous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fr-FR"/>
              <a:t>Lorem ipsum dolor sit amet, consectetur adipiscing elit. Etiam aliquet eu mi quis lacinia. Ut fermentum a magna ut.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d’image 13" descr="Main écrivant sur un pense-bête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angle 19" descr="Bloc d’accentuation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 rtlCol="0"/>
          <a:lstStyle/>
          <a:p>
            <a:r>
              <a:rPr lang="fr-FR" sz="2800" dirty="0"/>
              <a:t>01_extract_features.py</a:t>
            </a:r>
            <a:br>
              <a:rPr lang="fr-FR" sz="66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fr-FR" sz="60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Audio-</a:t>
            </a:r>
            <a:r>
              <a:rPr lang="fr-FR" b="1" dirty="0"/>
              <a:t>transformer en chiffres</a:t>
            </a:r>
          </a:p>
          <a:p>
            <a:pPr marL="0" indent="0">
              <a:buNone/>
            </a:pPr>
            <a:r>
              <a:rPr lang="fr-FR" b="1" dirty="0"/>
              <a:t>MFCC</a:t>
            </a:r>
            <a:r>
              <a:rPr lang="fr-FR" dirty="0"/>
              <a:t> — Mel-Frequency Cepstral Coefficients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altLang="fr-FR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dirty="0"/>
          </a:p>
          <a:p>
            <a:pPr marL="0" indent="0" rtl="0">
              <a:buNone/>
            </a:pP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0984157-45DC-CD43-03F9-0925745C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02_train.py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7375B4-D658-D847-129E-1BFD5B446AA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4305E0C-2013-FF4A-83CC-65582AECBF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On divise les données en 3 groupes :</a:t>
            </a:r>
          </a:p>
          <a:p>
            <a:r>
              <a:rPr lang="fr-FR" b="1" dirty="0"/>
              <a:t>70% pour entraîner</a:t>
            </a:r>
            <a:r>
              <a:rPr lang="fr-FR" dirty="0"/>
              <a:t> le modèle — il apprend dessus</a:t>
            </a:r>
          </a:p>
          <a:p>
            <a:r>
              <a:rPr lang="fr-FR" b="1" dirty="0"/>
              <a:t>15% pour valider</a:t>
            </a:r>
            <a:r>
              <a:rPr lang="fr-FR" dirty="0"/>
              <a:t> — on vérifie qu'il ne triche pas</a:t>
            </a:r>
          </a:p>
          <a:p>
            <a:r>
              <a:rPr lang="fr-FR" b="1" dirty="0"/>
              <a:t>15% pour tester</a:t>
            </a:r>
            <a:r>
              <a:rPr lang="fr-FR" dirty="0"/>
              <a:t> — le vrai test final, données jamais vues</a:t>
            </a:r>
          </a:p>
          <a:p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73FBBE-7301-3D3F-736F-79B4810BE4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871784-9FEF-6B42-79EA-3E11B237588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6</a:t>
            </a:fld>
            <a:endParaRPr lang="fr-FR" noProof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1F71E2F-AF76-B4E3-35A4-A053CEA26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00" y="5601844"/>
            <a:ext cx="9982252" cy="590155"/>
          </a:xfrm>
          <a:prstGeom prst="rect">
            <a:avLst/>
          </a:prstGeom>
        </p:spPr>
      </p:pic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6C92042E-13E3-CF99-A520-11EE15B9A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117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pour une image  8">
            <a:extLst>
              <a:ext uri="{FF2B5EF4-FFF2-40B4-BE49-F238E27FC236}">
                <a16:creationId xmlns:a16="http://schemas.microsoft.com/office/drawing/2014/main" id="{9EAE29DD-E104-4A4B-44DB-5554E51A6E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4326" r="4326"/>
          <a:stretch/>
        </p:blipFill>
        <p:spPr>
          <a:xfrm>
            <a:off x="0" y="355"/>
            <a:ext cx="9780588" cy="6370640"/>
          </a:xfrm>
          <a:prstGeom prst="rect">
            <a:avLst/>
          </a:prstGeom>
          <a:noFill/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1FF3CE39-970F-98F5-9554-B444D6B7A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204792"/>
            <a:ext cx="5956300" cy="1944000"/>
          </a:xfrm>
        </p:spPr>
        <p:txBody>
          <a:bodyPr anchor="t">
            <a:normAutofit/>
          </a:bodyPr>
          <a:lstStyle/>
          <a:p>
            <a:r>
              <a:rPr lang="fr-FR" sz="3400"/>
              <a:t>On a testé 3 algorithmes différents :</a:t>
            </a:r>
            <a:br>
              <a:rPr lang="fr-FR" sz="3400"/>
            </a:br>
            <a:endParaRPr lang="fr-FR" sz="340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4B44237-42F4-B88D-CD00-9316FC7A97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4148860"/>
            <a:ext cx="5956300" cy="11005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8BA4DD-1BB0-D83D-F684-BFAC57D6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439820"/>
            <a:ext cx="5664000" cy="295062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8979FF-919C-01B3-E90F-A88D464E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0000" y="6371351"/>
            <a:ext cx="432000" cy="43200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1523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9D6398E-D0C5-5257-3D54-496E19CF25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59DD6E-21A5-1CC7-F432-60A9E0BF3D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DEEF38-2B97-2A8C-2CD0-C413BC0D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42ACA6-A407-9531-E022-8D6FB748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8</a:t>
            </a:fld>
            <a:endParaRPr lang="fr-FR" noProof="0"/>
          </a:p>
        </p:txBody>
      </p:sp>
      <p:pic>
        <p:nvPicPr>
          <p:cNvPr id="3080" name="Picture 8" descr="Neurones artificiels et neurones biologiques - Tree Learning">
            <a:extLst>
              <a:ext uri="{FF2B5EF4-FFF2-40B4-BE49-F238E27FC236}">
                <a16:creationId xmlns:a16="http://schemas.microsoft.com/office/drawing/2014/main" id="{F3118E8F-6551-4427-EDFD-298209C3F474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7" b="393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39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VM : Support Vector Machine | Blent.ai">
            <a:extLst>
              <a:ext uri="{FF2B5EF4-FFF2-40B4-BE49-F238E27FC236}">
                <a16:creationId xmlns:a16="http://schemas.microsoft.com/office/drawing/2014/main" id="{8D20FB2B-A7BE-70AF-5DB5-53ADABFECA7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3093" y="68263"/>
            <a:ext cx="7414014" cy="623411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C94154-9D24-A615-85D8-95D1DB3B60E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2000" y="6439820"/>
            <a:ext cx="5664000" cy="295062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 hidden="1">
            <a:extLst>
              <a:ext uri="{FF2B5EF4-FFF2-40B4-BE49-F238E27FC236}">
                <a16:creationId xmlns:a16="http://schemas.microsoft.com/office/drawing/2014/main" id="{AFEDCCEF-040F-FFFF-693E-2926F2C923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60000" y="6371351"/>
            <a:ext cx="432000" cy="4320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30108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andom Forests. Random forests is a powerful machine… | by Roi Yehoshua,  PhD | Medium">
            <a:extLst>
              <a:ext uri="{FF2B5EF4-FFF2-40B4-BE49-F238E27FC236}">
                <a16:creationId xmlns:a16="http://schemas.microsoft.com/office/drawing/2014/main" id="{A0143D6E-3C25-6122-F6E0-D421AD67ED3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716" y="68263"/>
            <a:ext cx="10136768" cy="623411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F6E1ABE-6D61-6981-0EC6-2990AE24EBA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 hidden="1">
            <a:extLst>
              <a:ext uri="{FF2B5EF4-FFF2-40B4-BE49-F238E27FC236}">
                <a16:creationId xmlns:a16="http://schemas.microsoft.com/office/drawing/2014/main" id="{475CEAE1-0656-D655-282C-52CABF65079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4485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AA0ADDBE-8ADC-BA3B-4953-F8B557CEF5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C1C83EE-46FE-F3EC-8101-96143472C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1241675"/>
            <a:ext cx="5956300" cy="1944000"/>
          </a:xfrm>
        </p:spPr>
        <p:txBody>
          <a:bodyPr/>
          <a:lstStyle/>
          <a:p>
            <a:r>
              <a:rPr lang="fr-FR" dirty="0"/>
              <a:t>03_evaluate.py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D12277-D4A8-AEA2-7AB9-19F2D73597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3131127"/>
            <a:ext cx="5956300" cy="3240223"/>
          </a:xfrm>
        </p:spPr>
        <p:txBody>
          <a:bodyPr/>
          <a:lstStyle/>
          <a:p>
            <a:pPr algn="l"/>
            <a:r>
              <a:rPr lang="fr-FR" dirty="0"/>
              <a:t>On teste le modèle sur les données qu'il n'a </a:t>
            </a:r>
            <a:r>
              <a:rPr lang="fr-FR" b="1" dirty="0"/>
              <a:t>jamais vues</a:t>
            </a:r>
            <a:r>
              <a:rPr lang="fr-FR" dirty="0"/>
              <a:t> (le 15% de test) et on génère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dirty="0"/>
              <a:t>Matrice de confusion</a:t>
            </a:r>
            <a:r>
              <a:rPr lang="fr-FR" dirty="0"/>
              <a:t> — on voit quelles maladies il confond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dirty="0"/>
              <a:t>Courbes ROC</a:t>
            </a:r>
            <a:r>
              <a:rPr lang="fr-FR" dirty="0"/>
              <a:t> — mesure la qualité de détection par classe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dirty="0"/>
              <a:t>Importance des </a:t>
            </a:r>
            <a:r>
              <a:rPr lang="fr-FR" b="1" dirty="0" err="1"/>
              <a:t>features</a:t>
            </a:r>
            <a:r>
              <a:rPr lang="fr-FR" dirty="0"/>
              <a:t> — quels chiffres audio comptent le plus</a:t>
            </a:r>
          </a:p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E92E33-B713-8BB1-C7B2-2252C2804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5986278"/>
            <a:ext cx="5664000" cy="295062"/>
          </a:xfrm>
        </p:spPr>
        <p:txBody>
          <a:bodyPr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DD057B-3CBB-0993-F349-C6D0CBEE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11</a:t>
            </a:fld>
            <a:endParaRPr lang="fr-FR" noProof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BAC3812-DCCA-0B2F-2991-E1998DD77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906" y="2442687"/>
            <a:ext cx="3206915" cy="7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32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pour une image  11">
            <a:extLst>
              <a:ext uri="{FF2B5EF4-FFF2-40B4-BE49-F238E27FC236}">
                <a16:creationId xmlns:a16="http://schemas.microsoft.com/office/drawing/2014/main" id="{9341A2AB-9482-A5B5-A2C4-61C29777EA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0650" y="953532"/>
            <a:ext cx="11518900" cy="4463574"/>
          </a:xfrm>
          <a:prstGeom prst="rect">
            <a:avLst/>
          </a:prstGeom>
          <a:noFill/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2C419C-2AE6-11B8-5051-26C5038BA24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2000" y="6439820"/>
            <a:ext cx="5664000" cy="295062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 hidden="1">
            <a:extLst>
              <a:ext uri="{FF2B5EF4-FFF2-40B4-BE49-F238E27FC236}">
                <a16:creationId xmlns:a16="http://schemas.microsoft.com/office/drawing/2014/main" id="{127DB003-10E3-95B0-EBFF-3060275A7B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60000" y="6371351"/>
            <a:ext cx="432000" cy="43200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09628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8B1B8650-2B5A-73BC-CC96-B9F912C054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352" y="68263"/>
            <a:ext cx="10477495" cy="6234112"/>
          </a:xfrm>
          <a:prstGeom prst="rect">
            <a:avLst/>
          </a:prstGeom>
          <a:noFill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AB0070E-5906-E781-2DD8-B00D457BE8A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 hidden="1">
            <a:extLst>
              <a:ext uri="{FF2B5EF4-FFF2-40B4-BE49-F238E27FC236}">
                <a16:creationId xmlns:a16="http://schemas.microsoft.com/office/drawing/2014/main" id="{8160B942-CAB6-25B5-9F4A-23E17025517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09344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3E214AA6-399E-A975-3BA2-36BA983F7A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07543" y="68263"/>
            <a:ext cx="7145114" cy="6234112"/>
          </a:xfrm>
          <a:prstGeom prst="rect">
            <a:avLst/>
          </a:prstGeom>
          <a:noFill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478D674-1985-22C2-CB6E-E8879A8F6C7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 hidden="1">
            <a:extLst>
              <a:ext uri="{FF2B5EF4-FFF2-40B4-BE49-F238E27FC236}">
                <a16:creationId xmlns:a16="http://schemas.microsoft.com/office/drawing/2014/main" id="{AAF4EA8C-558C-88BA-8FCF-B2A8564D73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7312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CD9F7020-CF83-D2D9-55A4-F0257927D5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277" r="946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CE60AC-4391-1BA1-CCD7-6E386DEBB7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 hidden="1">
            <a:extLst>
              <a:ext uri="{FF2B5EF4-FFF2-40B4-BE49-F238E27FC236}">
                <a16:creationId xmlns:a16="http://schemas.microsoft.com/office/drawing/2014/main" id="{54B0D7A8-FBCE-483E-92BE-678B72A6A83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45409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9F69F18A-259F-B5E3-9EC0-AF704A44DE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4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E38FDB-C1C2-F00D-8CFA-DEA2D03044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 hidden="1">
            <a:extLst>
              <a:ext uri="{FF2B5EF4-FFF2-40B4-BE49-F238E27FC236}">
                <a16:creationId xmlns:a16="http://schemas.microsoft.com/office/drawing/2014/main" id="{CA8ABDC9-8718-DCAB-3B53-948300DDD2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87845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E6B57669-9206-B676-53A6-F79686E4C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B2DE04-D58F-91EE-9D8D-59DD3AADC4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 hidden="1">
            <a:extLst>
              <a:ext uri="{FF2B5EF4-FFF2-40B4-BE49-F238E27FC236}">
                <a16:creationId xmlns:a16="http://schemas.microsoft.com/office/drawing/2014/main" id="{9FBD5316-CD3D-B633-62A3-72598401177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74588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5B6A11F4-87C8-27E7-8D3F-3834D1B80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4CD3A4FA-7762-461C-FA55-CF9152448C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13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B6D7BB-C3AF-CA5E-9B36-C90DA12CA62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 hidden="1">
            <a:extLst>
              <a:ext uri="{FF2B5EF4-FFF2-40B4-BE49-F238E27FC236}">
                <a16:creationId xmlns:a16="http://schemas.microsoft.com/office/drawing/2014/main" id="{8B7292CE-760A-9EF6-D6B8-256AD391FE4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noProof="0" smtClean="0"/>
              <a:pPr rtl="0">
                <a:spcAft>
                  <a:spcPts val="600"/>
                </a:spcAft>
              </a:pPr>
              <a:t>19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5676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 descr="Comment utiliser ce modèle&#10;">
            <a:extLst>
              <a:ext uri="{FF2B5EF4-FFF2-40B4-BE49-F238E27FC236}">
                <a16:creationId xmlns:a16="http://schemas.microsoft.com/office/drawing/2014/main" id="{AF827C88-045E-4F68-9447-36B04E5AF96E}"/>
              </a:ext>
            </a:extLst>
          </p:cNvPr>
          <p:cNvGrpSpPr/>
          <p:nvPr/>
        </p:nvGrpSpPr>
        <p:grpSpPr>
          <a:xfrm>
            <a:off x="298484" y="589495"/>
            <a:ext cx="3002130" cy="3083313"/>
            <a:chOff x="1341135" y="527364"/>
            <a:chExt cx="3002130" cy="3083313"/>
          </a:xfrm>
        </p:grpSpPr>
        <p:sp>
          <p:nvSpPr>
            <p:cNvPr id="37" name="Ovale 36" title="Graphismes d’arrière-plan circulaires">
              <a:extLst>
                <a:ext uri="{FF2B5EF4-FFF2-40B4-BE49-F238E27FC236}">
                  <a16:creationId xmlns:a16="http://schemas.microsoft.com/office/drawing/2014/main" id="{C51FBE48-2848-4EC5-89D6-C5C86C105FD1}"/>
                </a:ext>
              </a:extLst>
            </p:cNvPr>
            <p:cNvSpPr/>
            <p:nvPr/>
          </p:nvSpPr>
          <p:spPr>
            <a:xfrm>
              <a:off x="1341135" y="814260"/>
              <a:ext cx="2796417" cy="279641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lnSpc>
                  <a:spcPts val="3000"/>
                </a:lnSpc>
              </a:pPr>
              <a:r>
                <a:rPr lang="fr-FR" sz="2400" b="1"/>
                <a:t>Comment</a:t>
              </a:r>
              <a:r>
                <a:rPr lang="fr-FR" sz="2400"/>
                <a:t> </a:t>
              </a:r>
              <a:r>
                <a:rPr lang="fr-FR" sz="2400" i="1"/>
                <a:t>personnaliser </a:t>
              </a:r>
              <a:r>
                <a:rPr lang="fr-FR" sz="2400"/>
                <a:t>ce modèle</a:t>
              </a:r>
            </a:p>
          </p:txBody>
        </p:sp>
        <p:sp>
          <p:nvSpPr>
            <p:cNvPr id="40" name="Ovale 39" title="Graphismes d’arrière-plan circulaires">
              <a:extLst>
                <a:ext uri="{FF2B5EF4-FFF2-40B4-BE49-F238E27FC236}">
                  <a16:creationId xmlns:a16="http://schemas.microsoft.com/office/drawing/2014/main" id="{DDBE5AE1-0732-46F6-A796-4251201817EE}"/>
                </a:ext>
              </a:extLst>
            </p:cNvPr>
            <p:cNvSpPr/>
            <p:nvPr/>
          </p:nvSpPr>
          <p:spPr>
            <a:xfrm>
              <a:off x="3125525" y="527364"/>
              <a:ext cx="1217740" cy="12177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41" name="Ovale 40" title="Graphismes d’arrière-plan circulaires">
              <a:extLst>
                <a:ext uri="{FF2B5EF4-FFF2-40B4-BE49-F238E27FC236}">
                  <a16:creationId xmlns:a16="http://schemas.microsoft.com/office/drawing/2014/main" id="{4571EFCA-4D6B-4975-BCE3-09C7F433B4DA}"/>
                </a:ext>
              </a:extLst>
            </p:cNvPr>
            <p:cNvSpPr/>
            <p:nvPr/>
          </p:nvSpPr>
          <p:spPr>
            <a:xfrm>
              <a:off x="1537865" y="3001655"/>
              <a:ext cx="360000" cy="36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38" name="Titre 2">
              <a:extLst>
                <a:ext uri="{FF2B5EF4-FFF2-40B4-BE49-F238E27FC236}">
                  <a16:creationId xmlns:a16="http://schemas.microsoft.com/office/drawing/2014/main" id="{E3AEFCE0-0A87-4B19-ABDE-39B6D794A7ED}"/>
                </a:ext>
              </a:extLst>
            </p:cNvPr>
            <p:cNvSpPr txBox="1">
              <a:spLocks/>
            </p:cNvSpPr>
            <p:nvPr/>
          </p:nvSpPr>
          <p:spPr>
            <a:xfrm>
              <a:off x="3133073" y="654208"/>
              <a:ext cx="1188691" cy="118682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 spc="-15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rtl="0"/>
              <a:r>
                <a:rPr lang="fr-FR" sz="72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</p:grpSp>
      <p:sp>
        <p:nvSpPr>
          <p:cNvPr id="6" name="Rectangle 5" descr="Encadré d’arrière-plan - Instructions">
            <a:extLst>
              <a:ext uri="{FF2B5EF4-FFF2-40B4-BE49-F238E27FC236}">
                <a16:creationId xmlns:a16="http://schemas.microsoft.com/office/drawing/2014/main" id="{20779E53-6FBF-49D4-B71F-9C4591CB06D5}"/>
              </a:ext>
            </a:extLst>
          </p:cNvPr>
          <p:cNvSpPr/>
          <p:nvPr/>
        </p:nvSpPr>
        <p:spPr>
          <a:xfrm>
            <a:off x="3489598" y="70559"/>
            <a:ext cx="4708996" cy="41775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3" name="Ovale 42" title="Graphismes d’arrière-plan circulaires">
            <a:extLst>
              <a:ext uri="{FF2B5EF4-FFF2-40B4-BE49-F238E27FC236}">
                <a16:creationId xmlns:a16="http://schemas.microsoft.com/office/drawing/2014/main" id="{C4AAE0A8-79D5-440B-B812-5976D3EDBD0C}"/>
              </a:ext>
            </a:extLst>
          </p:cNvPr>
          <p:cNvSpPr/>
          <p:nvPr/>
        </p:nvSpPr>
        <p:spPr>
          <a:xfrm>
            <a:off x="3630478" y="200418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46" name="Groupe 45" title="Ajoutez vos images">
            <a:extLst>
              <a:ext uri="{FF2B5EF4-FFF2-40B4-BE49-F238E27FC236}">
                <a16:creationId xmlns:a16="http://schemas.microsoft.com/office/drawing/2014/main" id="{D61E15D2-0BAF-4A2C-9698-DD4F6BAB920D}"/>
              </a:ext>
            </a:extLst>
          </p:cNvPr>
          <p:cNvGrpSpPr/>
          <p:nvPr/>
        </p:nvGrpSpPr>
        <p:grpSpPr>
          <a:xfrm>
            <a:off x="3628308" y="530352"/>
            <a:ext cx="4341658" cy="3585644"/>
            <a:chOff x="424893" y="379770"/>
            <a:chExt cx="4341658" cy="3585644"/>
          </a:xfrm>
        </p:grpSpPr>
        <p:sp>
          <p:nvSpPr>
            <p:cNvPr id="16" name="Zone de texte 15">
              <a:extLst>
                <a:ext uri="{FF2B5EF4-FFF2-40B4-BE49-F238E27FC236}">
                  <a16:creationId xmlns:a16="http://schemas.microsoft.com/office/drawing/2014/main" id="{1AA52088-CC08-4B31-88C3-7589922DEBB6}"/>
                </a:ext>
              </a:extLst>
            </p:cNvPr>
            <p:cNvSpPr txBox="1"/>
            <p:nvPr/>
          </p:nvSpPr>
          <p:spPr>
            <a:xfrm>
              <a:off x="424893" y="3134417"/>
              <a:ext cx="21384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FR" sz="1600" b="1" dirty="0"/>
                <a:t>Supprimez</a:t>
              </a:r>
              <a:r>
                <a:rPr lang="fr-FR" sz="1600" dirty="0"/>
                <a:t> l’image ou l’icône d’espace réservé,</a:t>
              </a:r>
            </a:p>
          </p:txBody>
        </p:sp>
        <p:pic>
          <p:nvPicPr>
            <p:cNvPr id="12" name="Image 11" title="Graphismes - Instructions d’utilisation du modèle">
              <a:extLst>
                <a:ext uri="{FF2B5EF4-FFF2-40B4-BE49-F238E27FC236}">
                  <a16:creationId xmlns:a16="http://schemas.microsoft.com/office/drawing/2014/main" id="{B945A26A-43DB-4AED-BA9E-E81359BA2E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4686" y="910689"/>
              <a:ext cx="1985426" cy="2008300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56A7864C-1101-45CF-B3E0-1BB84A195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0660" y="963918"/>
              <a:ext cx="1905000" cy="1922971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5" name="Zone de texte 14">
              <a:extLst>
                <a:ext uri="{FF2B5EF4-FFF2-40B4-BE49-F238E27FC236}">
                  <a16:creationId xmlns:a16="http://schemas.microsoft.com/office/drawing/2014/main" id="{5083EB4B-86A0-45E7-8493-F0169A4CCC87}"/>
                </a:ext>
              </a:extLst>
            </p:cNvPr>
            <p:cNvSpPr txBox="1"/>
            <p:nvPr/>
          </p:nvSpPr>
          <p:spPr>
            <a:xfrm>
              <a:off x="499040" y="379770"/>
              <a:ext cx="41366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FR" sz="2000" b="1"/>
                <a:t>Ajoutez vos images</a:t>
              </a:r>
            </a:p>
          </p:txBody>
        </p:sp>
        <p:sp>
          <p:nvSpPr>
            <p:cNvPr id="17" name="Zone de texte 16">
              <a:extLst>
                <a:ext uri="{FF2B5EF4-FFF2-40B4-BE49-F238E27FC236}">
                  <a16:creationId xmlns:a16="http://schemas.microsoft.com/office/drawing/2014/main" id="{0F108E97-1B0C-4A75-91C1-1B9A03212BD0}"/>
                </a:ext>
              </a:extLst>
            </p:cNvPr>
            <p:cNvSpPr txBox="1"/>
            <p:nvPr/>
          </p:nvSpPr>
          <p:spPr>
            <a:xfrm>
              <a:off x="2628134" y="3134416"/>
              <a:ext cx="21384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FR" sz="1600"/>
                <a:t>puis sélectionnez </a:t>
              </a:r>
              <a:r>
                <a:rPr lang="fr-FR" sz="1600" b="1" i="1"/>
                <a:t>ou</a:t>
              </a:r>
              <a:r>
                <a:rPr lang="fr-FR" sz="1600"/>
                <a:t> glissez-déplacez votre photo</a:t>
              </a:r>
            </a:p>
          </p:txBody>
        </p:sp>
        <p:sp>
          <p:nvSpPr>
            <p:cNvPr id="20" name="Graphisme 18" title="Flèche - Instructions d’utilisation du modèle">
              <a:extLst>
                <a:ext uri="{FF2B5EF4-FFF2-40B4-BE49-F238E27FC236}">
                  <a16:creationId xmlns:a16="http://schemas.microsoft.com/office/drawing/2014/main" id="{3CDE6CC0-E86B-4B0C-B994-AD3ECE46636B}"/>
                </a:ext>
              </a:extLst>
            </p:cNvPr>
            <p:cNvSpPr/>
            <p:nvPr/>
          </p:nvSpPr>
          <p:spPr>
            <a:xfrm rot="4500000" flipH="1">
              <a:off x="1365275" y="2606461"/>
              <a:ext cx="367586" cy="457870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rtl="0"/>
              <a:endParaRPr lang="fr-FR"/>
            </a:p>
          </p:txBody>
        </p:sp>
        <p:sp>
          <p:nvSpPr>
            <p:cNvPr id="21" name="Graphisme 18" title="Flèche - Instructions d’utilisation du modèle">
              <a:extLst>
                <a:ext uri="{FF2B5EF4-FFF2-40B4-BE49-F238E27FC236}">
                  <a16:creationId xmlns:a16="http://schemas.microsoft.com/office/drawing/2014/main" id="{051A3989-527C-4619-9BF7-E99892F1986E}"/>
                </a:ext>
              </a:extLst>
            </p:cNvPr>
            <p:cNvSpPr/>
            <p:nvPr/>
          </p:nvSpPr>
          <p:spPr>
            <a:xfrm rot="17820117">
              <a:off x="3452257" y="2502894"/>
              <a:ext cx="421360" cy="524851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sp>
        <p:nvSpPr>
          <p:cNvPr id="42" name="Rectangle 41" descr="Encadré d’arrière-plan - Instructions">
            <a:extLst>
              <a:ext uri="{FF2B5EF4-FFF2-40B4-BE49-F238E27FC236}">
                <a16:creationId xmlns:a16="http://schemas.microsoft.com/office/drawing/2014/main" id="{3844B058-3CE8-4852-BEF6-257F8549EE99}"/>
              </a:ext>
            </a:extLst>
          </p:cNvPr>
          <p:cNvSpPr/>
          <p:nvPr/>
        </p:nvSpPr>
        <p:spPr>
          <a:xfrm>
            <a:off x="8282947" y="2345290"/>
            <a:ext cx="3803798" cy="35506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5" name="Ovale 44" title="Graphismes d’arrière-plan circulaires">
            <a:extLst>
              <a:ext uri="{FF2B5EF4-FFF2-40B4-BE49-F238E27FC236}">
                <a16:creationId xmlns:a16="http://schemas.microsoft.com/office/drawing/2014/main" id="{840F97B3-0E1D-40DC-BF8C-2D40E7DDC61C}"/>
              </a:ext>
            </a:extLst>
          </p:cNvPr>
          <p:cNvSpPr/>
          <p:nvPr/>
        </p:nvSpPr>
        <p:spPr>
          <a:xfrm>
            <a:off x="8426865" y="2498870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Zone de texte 13">
            <a:extLst>
              <a:ext uri="{FF2B5EF4-FFF2-40B4-BE49-F238E27FC236}">
                <a16:creationId xmlns:a16="http://schemas.microsoft.com/office/drawing/2014/main" id="{7EAFFD73-4869-4CC3-8C60-E7C58E91DDE1}"/>
              </a:ext>
            </a:extLst>
          </p:cNvPr>
          <p:cNvSpPr txBox="1"/>
          <p:nvPr/>
        </p:nvSpPr>
        <p:spPr>
          <a:xfrm>
            <a:off x="8672699" y="2908827"/>
            <a:ext cx="3005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2000" b="1" dirty="0"/>
              <a:t>Logo de l’entreprise</a:t>
            </a:r>
          </a:p>
        </p:txBody>
      </p:sp>
      <p:sp>
        <p:nvSpPr>
          <p:cNvPr id="10" name="Zone de texte 9">
            <a:extLst>
              <a:ext uri="{FF2B5EF4-FFF2-40B4-BE49-F238E27FC236}">
                <a16:creationId xmlns:a16="http://schemas.microsoft.com/office/drawing/2014/main" id="{DBE590BD-3E87-43CE-BDCC-A6A81A224642}"/>
              </a:ext>
            </a:extLst>
          </p:cNvPr>
          <p:cNvSpPr txBox="1"/>
          <p:nvPr/>
        </p:nvSpPr>
        <p:spPr>
          <a:xfrm>
            <a:off x="8672699" y="3512367"/>
            <a:ext cx="30052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600" dirty="0"/>
              <a:t>Insérez le logo de votre entreprise sur le </a:t>
            </a:r>
            <a:r>
              <a:rPr lang="fr-FR" sz="1600" b="1" dirty="0"/>
              <a:t>masque des diapositives</a:t>
            </a:r>
          </a:p>
          <a:p>
            <a:pPr algn="ctr" rtl="0"/>
            <a:br>
              <a:rPr lang="fr-FR" dirty="0"/>
            </a:br>
            <a:r>
              <a:rPr lang="fr-FR" dirty="0"/>
              <a:t>    </a:t>
            </a:r>
            <a:r>
              <a:rPr lang="fr-FR" sz="1200" dirty="0"/>
              <a:t>Affichage 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Masque des diapositives</a:t>
            </a:r>
          </a:p>
          <a:p>
            <a:pPr algn="ctr" rtl="0"/>
            <a:br>
              <a:rPr lang="fr-FR" sz="1200" dirty="0"/>
            </a:br>
            <a:r>
              <a:rPr lang="fr-FR" sz="1200" dirty="0"/>
              <a:t>Vérifiez que vous êtes bien sur la </a:t>
            </a:r>
            <a:r>
              <a:rPr lang="fr-FR" sz="1200" b="1" dirty="0"/>
              <a:t>première diapositive </a:t>
            </a:r>
            <a:r>
              <a:rPr lang="fr-FR" sz="1200" dirty="0"/>
              <a:t>(masque), puis supprimez le logo d’espace réservé et insérez le vôtre ou modifiez le texte. </a:t>
            </a:r>
            <a:endParaRPr lang="fr-FR" dirty="0"/>
          </a:p>
        </p:txBody>
      </p:sp>
      <p:pic>
        <p:nvPicPr>
          <p:cNvPr id="34" name="Graphisme 33" title="Icône de clic">
            <a:extLst>
              <a:ext uri="{FF2B5EF4-FFF2-40B4-BE49-F238E27FC236}">
                <a16:creationId xmlns:a16="http://schemas.microsoft.com/office/drawing/2014/main" id="{CD918641-0E9F-47D8-845F-9A6E26FAFE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3253" y="4604852"/>
            <a:ext cx="199025" cy="1990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raphisme 6" title="Flèche - Instructions d’utilisation du modèle">
            <a:extLst>
              <a:ext uri="{FF2B5EF4-FFF2-40B4-BE49-F238E27FC236}">
                <a16:creationId xmlns:a16="http://schemas.microsoft.com/office/drawing/2014/main" id="{B380D939-B966-40C5-8110-A8705AE6EE34}"/>
              </a:ext>
            </a:extLst>
          </p:cNvPr>
          <p:cNvSpPr/>
          <p:nvPr/>
        </p:nvSpPr>
        <p:spPr>
          <a:xfrm rot="14861138" flipH="1">
            <a:off x="9901537" y="5592451"/>
            <a:ext cx="829790" cy="849274"/>
          </a:xfrm>
          <a:custGeom>
            <a:avLst/>
            <a:gdLst>
              <a:gd name="connsiteX0" fmla="*/ 626791 w 676275"/>
              <a:gd name="connsiteY0" fmla="*/ 456724 h 666750"/>
              <a:gd name="connsiteX1" fmla="*/ 624886 w 676275"/>
              <a:gd name="connsiteY1" fmla="*/ 459581 h 666750"/>
              <a:gd name="connsiteX2" fmla="*/ 500108 w 676275"/>
              <a:gd name="connsiteY2" fmla="*/ 418624 h 666750"/>
              <a:gd name="connsiteX3" fmla="*/ 465818 w 676275"/>
              <a:gd name="connsiteY3" fmla="*/ 415766 h 666750"/>
              <a:gd name="connsiteX4" fmla="*/ 470581 w 676275"/>
              <a:gd name="connsiteY4" fmla="*/ 433864 h 666750"/>
              <a:gd name="connsiteX5" fmla="*/ 605836 w 676275"/>
              <a:gd name="connsiteY5" fmla="*/ 480536 h 666750"/>
              <a:gd name="connsiteX6" fmla="*/ 544876 w 676275"/>
              <a:gd name="connsiteY6" fmla="*/ 507206 h 666750"/>
              <a:gd name="connsiteX7" fmla="*/ 475343 w 676275"/>
              <a:gd name="connsiteY7" fmla="*/ 516731 h 666750"/>
              <a:gd name="connsiteX8" fmla="*/ 456293 w 676275"/>
              <a:gd name="connsiteY8" fmla="*/ 515779 h 666750"/>
              <a:gd name="connsiteX9" fmla="*/ 446768 w 676275"/>
              <a:gd name="connsiteY9" fmla="*/ 514826 h 666750"/>
              <a:gd name="connsiteX10" fmla="*/ 442958 w 676275"/>
              <a:gd name="connsiteY10" fmla="*/ 514826 h 666750"/>
              <a:gd name="connsiteX11" fmla="*/ 441053 w 676275"/>
              <a:gd name="connsiteY11" fmla="*/ 514826 h 666750"/>
              <a:gd name="connsiteX12" fmla="*/ 440101 w 676275"/>
              <a:gd name="connsiteY12" fmla="*/ 514826 h 666750"/>
              <a:gd name="connsiteX13" fmla="*/ 422003 w 676275"/>
              <a:gd name="connsiteY13" fmla="*/ 511016 h 666750"/>
              <a:gd name="connsiteX14" fmla="*/ 406763 w 676275"/>
              <a:gd name="connsiteY14" fmla="*/ 507206 h 666750"/>
              <a:gd name="connsiteX15" fmla="*/ 339136 w 676275"/>
              <a:gd name="connsiteY15" fmla="*/ 472916 h 666750"/>
              <a:gd name="connsiteX16" fmla="*/ 220073 w 676275"/>
              <a:gd name="connsiteY16" fmla="*/ 348139 h 666750"/>
              <a:gd name="connsiteX17" fmla="*/ 132443 w 676275"/>
              <a:gd name="connsiteY17" fmla="*/ 202406 h 666750"/>
              <a:gd name="connsiteX18" fmla="*/ 56243 w 676275"/>
              <a:gd name="connsiteY18" fmla="*/ 22384 h 666750"/>
              <a:gd name="connsiteX19" fmla="*/ 27668 w 676275"/>
              <a:gd name="connsiteY19" fmla="*/ 7144 h 666750"/>
              <a:gd name="connsiteX20" fmla="*/ 7666 w 676275"/>
              <a:gd name="connsiteY20" fmla="*/ 18574 h 666750"/>
              <a:gd name="connsiteX21" fmla="*/ 171496 w 676275"/>
              <a:gd name="connsiteY21" fmla="*/ 346234 h 666750"/>
              <a:gd name="connsiteX22" fmla="*/ 299131 w 676275"/>
              <a:gd name="connsiteY22" fmla="*/ 481489 h 666750"/>
              <a:gd name="connsiteX23" fmla="*/ 467723 w 676275"/>
              <a:gd name="connsiteY23" fmla="*/ 543401 h 666750"/>
              <a:gd name="connsiteX24" fmla="*/ 576308 w 676275"/>
              <a:gd name="connsiteY24" fmla="*/ 531971 h 666750"/>
              <a:gd name="connsiteX25" fmla="*/ 510586 w 676275"/>
              <a:gd name="connsiteY25" fmla="*/ 642461 h 666750"/>
              <a:gd name="connsiteX26" fmla="*/ 524873 w 676275"/>
              <a:gd name="connsiteY26" fmla="*/ 661511 h 666750"/>
              <a:gd name="connsiteX27" fmla="*/ 556306 w 676275"/>
              <a:gd name="connsiteY27" fmla="*/ 659606 h 666750"/>
              <a:gd name="connsiteX28" fmla="*/ 660128 w 676275"/>
              <a:gd name="connsiteY28" fmla="*/ 490061 h 666750"/>
              <a:gd name="connsiteX29" fmla="*/ 669653 w 676275"/>
              <a:gd name="connsiteY29" fmla="*/ 482441 h 666750"/>
              <a:gd name="connsiteX30" fmla="*/ 668701 w 676275"/>
              <a:gd name="connsiteY30" fmla="*/ 476726 h 666750"/>
              <a:gd name="connsiteX31" fmla="*/ 670606 w 676275"/>
              <a:gd name="connsiteY31" fmla="*/ 473869 h 666750"/>
              <a:gd name="connsiteX32" fmla="*/ 626791 w 676275"/>
              <a:gd name="connsiteY32" fmla="*/ 456724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6275" h="666750">
                <a:moveTo>
                  <a:pt x="626791" y="456724"/>
                </a:moveTo>
                <a:cubicBezTo>
                  <a:pt x="625838" y="457676"/>
                  <a:pt x="625838" y="458629"/>
                  <a:pt x="624886" y="459581"/>
                </a:cubicBezTo>
                <a:cubicBezTo>
                  <a:pt x="582023" y="450056"/>
                  <a:pt x="540113" y="436721"/>
                  <a:pt x="500108" y="418624"/>
                </a:cubicBezTo>
                <a:cubicBezTo>
                  <a:pt x="490583" y="413861"/>
                  <a:pt x="476296" y="410051"/>
                  <a:pt x="465818" y="415766"/>
                </a:cubicBezTo>
                <a:cubicBezTo>
                  <a:pt x="456293" y="421481"/>
                  <a:pt x="463913" y="431006"/>
                  <a:pt x="470581" y="433864"/>
                </a:cubicBezTo>
                <a:cubicBezTo>
                  <a:pt x="514396" y="453866"/>
                  <a:pt x="559163" y="469106"/>
                  <a:pt x="605836" y="480536"/>
                </a:cubicBezTo>
                <a:cubicBezTo>
                  <a:pt x="586786" y="491966"/>
                  <a:pt x="566783" y="501491"/>
                  <a:pt x="544876" y="507206"/>
                </a:cubicBezTo>
                <a:cubicBezTo>
                  <a:pt x="522968" y="513874"/>
                  <a:pt x="496298" y="516731"/>
                  <a:pt x="475343" y="516731"/>
                </a:cubicBezTo>
                <a:cubicBezTo>
                  <a:pt x="468676" y="516731"/>
                  <a:pt x="462961" y="516731"/>
                  <a:pt x="456293" y="515779"/>
                </a:cubicBezTo>
                <a:cubicBezTo>
                  <a:pt x="453436" y="515779"/>
                  <a:pt x="449626" y="514826"/>
                  <a:pt x="446768" y="514826"/>
                </a:cubicBezTo>
                <a:cubicBezTo>
                  <a:pt x="445816" y="514826"/>
                  <a:pt x="443911" y="514826"/>
                  <a:pt x="442958" y="514826"/>
                </a:cubicBezTo>
                <a:cubicBezTo>
                  <a:pt x="442006" y="514826"/>
                  <a:pt x="442006" y="514826"/>
                  <a:pt x="441053" y="514826"/>
                </a:cubicBezTo>
                <a:cubicBezTo>
                  <a:pt x="441053" y="514826"/>
                  <a:pt x="440101" y="514826"/>
                  <a:pt x="440101" y="514826"/>
                </a:cubicBezTo>
                <a:cubicBezTo>
                  <a:pt x="434386" y="513874"/>
                  <a:pt x="427718" y="512921"/>
                  <a:pt x="422003" y="511016"/>
                </a:cubicBezTo>
                <a:cubicBezTo>
                  <a:pt x="414383" y="509111"/>
                  <a:pt x="413431" y="509111"/>
                  <a:pt x="406763" y="507206"/>
                </a:cubicBezTo>
                <a:cubicBezTo>
                  <a:pt x="382951" y="499586"/>
                  <a:pt x="361043" y="488156"/>
                  <a:pt x="339136" y="472916"/>
                </a:cubicBezTo>
                <a:cubicBezTo>
                  <a:pt x="292463" y="439579"/>
                  <a:pt x="253411" y="394811"/>
                  <a:pt x="220073" y="348139"/>
                </a:cubicBezTo>
                <a:cubicBezTo>
                  <a:pt x="186736" y="302419"/>
                  <a:pt x="157208" y="252889"/>
                  <a:pt x="132443" y="202406"/>
                </a:cubicBezTo>
                <a:cubicBezTo>
                  <a:pt x="103868" y="144304"/>
                  <a:pt x="79103" y="83344"/>
                  <a:pt x="56243" y="22384"/>
                </a:cubicBezTo>
                <a:cubicBezTo>
                  <a:pt x="52433" y="11906"/>
                  <a:pt x="38146" y="8096"/>
                  <a:pt x="27668" y="7144"/>
                </a:cubicBezTo>
                <a:cubicBezTo>
                  <a:pt x="21953" y="7144"/>
                  <a:pt x="3856" y="8096"/>
                  <a:pt x="7666" y="18574"/>
                </a:cubicBezTo>
                <a:cubicBezTo>
                  <a:pt x="50528" y="132874"/>
                  <a:pt x="99106" y="247174"/>
                  <a:pt x="171496" y="346234"/>
                </a:cubicBezTo>
                <a:cubicBezTo>
                  <a:pt x="207691" y="395764"/>
                  <a:pt x="249601" y="444341"/>
                  <a:pt x="299131" y="481489"/>
                </a:cubicBezTo>
                <a:cubicBezTo>
                  <a:pt x="348661" y="517684"/>
                  <a:pt x="406763" y="538639"/>
                  <a:pt x="467723" y="543401"/>
                </a:cubicBezTo>
                <a:cubicBezTo>
                  <a:pt x="503918" y="545306"/>
                  <a:pt x="541066" y="542449"/>
                  <a:pt x="576308" y="531971"/>
                </a:cubicBezTo>
                <a:cubicBezTo>
                  <a:pt x="553448" y="568166"/>
                  <a:pt x="531541" y="605314"/>
                  <a:pt x="510586" y="642461"/>
                </a:cubicBezTo>
                <a:cubicBezTo>
                  <a:pt x="505823" y="651986"/>
                  <a:pt x="517253" y="658654"/>
                  <a:pt x="524873" y="661511"/>
                </a:cubicBezTo>
                <a:cubicBezTo>
                  <a:pt x="531541" y="664369"/>
                  <a:pt x="551543" y="668179"/>
                  <a:pt x="556306" y="659606"/>
                </a:cubicBezTo>
                <a:cubicBezTo>
                  <a:pt x="588691" y="601504"/>
                  <a:pt x="622981" y="545306"/>
                  <a:pt x="660128" y="490061"/>
                </a:cubicBezTo>
                <a:cubicBezTo>
                  <a:pt x="664891" y="489109"/>
                  <a:pt x="668701" y="487204"/>
                  <a:pt x="669653" y="482441"/>
                </a:cubicBezTo>
                <a:cubicBezTo>
                  <a:pt x="670606" y="480536"/>
                  <a:pt x="669653" y="478631"/>
                  <a:pt x="668701" y="476726"/>
                </a:cubicBezTo>
                <a:cubicBezTo>
                  <a:pt x="669653" y="475774"/>
                  <a:pt x="669653" y="474821"/>
                  <a:pt x="670606" y="473869"/>
                </a:cubicBezTo>
                <a:cubicBezTo>
                  <a:pt x="683941" y="457676"/>
                  <a:pt x="636316" y="443389"/>
                  <a:pt x="626791" y="45672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rtl="0"/>
            <a:endParaRPr lang="fr-FR"/>
          </a:p>
        </p:txBody>
      </p:sp>
      <p:sp>
        <p:nvSpPr>
          <p:cNvPr id="36" name="Rectangle 35" descr="Encadré d’arrière-plan - Instructions">
            <a:extLst>
              <a:ext uri="{FF2B5EF4-FFF2-40B4-BE49-F238E27FC236}">
                <a16:creationId xmlns:a16="http://schemas.microsoft.com/office/drawing/2014/main" id="{076CBD10-D15D-4FC1-8D9B-B4BEB3C1E3E5}"/>
              </a:ext>
            </a:extLst>
          </p:cNvPr>
          <p:cNvSpPr/>
          <p:nvPr/>
        </p:nvSpPr>
        <p:spPr>
          <a:xfrm>
            <a:off x="78734" y="4335681"/>
            <a:ext cx="8126850" cy="19328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4" name="Ovale 43" title="Graphismes d’arrière-plan circulaires">
            <a:extLst>
              <a:ext uri="{FF2B5EF4-FFF2-40B4-BE49-F238E27FC236}">
                <a16:creationId xmlns:a16="http://schemas.microsoft.com/office/drawing/2014/main" id="{AD5E115B-A01C-4789-8FA0-CA1A95794CDC}"/>
              </a:ext>
            </a:extLst>
          </p:cNvPr>
          <p:cNvSpPr/>
          <p:nvPr/>
        </p:nvSpPr>
        <p:spPr>
          <a:xfrm>
            <a:off x="7640194" y="4463794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" name="Zone de texte 22">
            <a:extLst>
              <a:ext uri="{FF2B5EF4-FFF2-40B4-BE49-F238E27FC236}">
                <a16:creationId xmlns:a16="http://schemas.microsoft.com/office/drawing/2014/main" id="{92C20CDD-0E88-460E-B553-CC0BFE2D7E81}"/>
              </a:ext>
            </a:extLst>
          </p:cNvPr>
          <p:cNvSpPr txBox="1"/>
          <p:nvPr/>
        </p:nvSpPr>
        <p:spPr>
          <a:xfrm>
            <a:off x="4026334" y="4470565"/>
            <a:ext cx="311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2000" b="1"/>
              <a:t>Choisissez vos couleurs</a:t>
            </a:r>
          </a:p>
        </p:txBody>
      </p:sp>
      <p:sp>
        <p:nvSpPr>
          <p:cNvPr id="22" name="Zone de texte 21">
            <a:extLst>
              <a:ext uri="{FF2B5EF4-FFF2-40B4-BE49-F238E27FC236}">
                <a16:creationId xmlns:a16="http://schemas.microsoft.com/office/drawing/2014/main" id="{0EDD0AB6-01C4-4545-BA3F-9047F2A0799E}"/>
              </a:ext>
            </a:extLst>
          </p:cNvPr>
          <p:cNvSpPr txBox="1"/>
          <p:nvPr/>
        </p:nvSpPr>
        <p:spPr>
          <a:xfrm>
            <a:off x="4026335" y="4919304"/>
            <a:ext cx="3720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1600" dirty="0"/>
              <a:t>Modifiez la couleur de votre </a:t>
            </a:r>
            <a:br>
              <a:rPr lang="fr-FR" sz="1600" dirty="0"/>
            </a:br>
            <a:r>
              <a:rPr lang="fr-FR" sz="1600" dirty="0"/>
              <a:t>thème en </a:t>
            </a:r>
            <a:r>
              <a:rPr lang="fr-FR" sz="1600" dirty="0">
                <a:sym typeface="Wingdings" panose="05000000000000000000" pitchFamily="2" charset="2"/>
              </a:rPr>
              <a:t>mode </a:t>
            </a:r>
            <a:r>
              <a:rPr lang="fr-FR" sz="1600" b="1" dirty="0"/>
              <a:t>Masque des diapositives</a:t>
            </a:r>
            <a:br>
              <a:rPr lang="fr-FR" sz="1600" dirty="0"/>
            </a:br>
            <a:br>
              <a:rPr lang="fr-FR" dirty="0"/>
            </a:br>
            <a:r>
              <a:rPr lang="fr-FR" dirty="0"/>
              <a:t>    </a:t>
            </a:r>
            <a:r>
              <a:rPr lang="fr-FR" sz="1200" dirty="0"/>
              <a:t>Affichage 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Masque des diapositives </a:t>
            </a:r>
            <a:r>
              <a:rPr lang="fr-FR" sz="1200" dirty="0">
                <a:sym typeface="Wingdings" panose="05000000000000000000" pitchFamily="2" charset="2"/>
              </a:rPr>
              <a:t> Couleurs (</a:t>
            </a:r>
            <a:r>
              <a:rPr lang="fr-FR" sz="1200" i="1" dirty="0">
                <a:sym typeface="Wingdings" panose="05000000000000000000" pitchFamily="2" charset="2"/>
              </a:rPr>
              <a:t>flèche déroulante</a:t>
            </a:r>
            <a:r>
              <a:rPr lang="fr-FR" sz="1200" dirty="0">
                <a:sym typeface="Wingdings" panose="05000000000000000000" pitchFamily="2" charset="2"/>
              </a:rPr>
              <a:t>)</a:t>
            </a:r>
            <a:endParaRPr lang="fr-FR" dirty="0"/>
          </a:p>
        </p:txBody>
      </p:sp>
      <p:pic>
        <p:nvPicPr>
          <p:cNvPr id="35" name="Graphisme 34" title="Icône de clic">
            <a:extLst>
              <a:ext uri="{FF2B5EF4-FFF2-40B4-BE49-F238E27FC236}">
                <a16:creationId xmlns:a16="http://schemas.microsoft.com/office/drawing/2014/main" id="{FE77A636-0A2F-43A6-A666-027B31BBE48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7289" y="5750113"/>
            <a:ext cx="199025" cy="1990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5E4CC77-F166-480D-B4C3-5D8B486794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291" y="4703191"/>
            <a:ext cx="2734442" cy="1186824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39" name="Zone de texte 38">
            <a:extLst>
              <a:ext uri="{FF2B5EF4-FFF2-40B4-BE49-F238E27FC236}">
                <a16:creationId xmlns:a16="http://schemas.microsoft.com/office/drawing/2014/main" id="{EE816D14-AD3C-4935-8CBF-20A2233CD8EE}"/>
              </a:ext>
            </a:extLst>
          </p:cNvPr>
          <p:cNvSpPr txBox="1"/>
          <p:nvPr/>
        </p:nvSpPr>
        <p:spPr>
          <a:xfrm>
            <a:off x="9181559" y="878701"/>
            <a:ext cx="1800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fr-F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Supprimez cette diapositive lorsque vous maîtrisez l’utilisation des modèles de masque de diapositive</a:t>
            </a:r>
          </a:p>
        </p:txBody>
      </p:sp>
      <p:grpSp>
        <p:nvGrpSpPr>
          <p:cNvPr id="54" name="Groupe 53" title="Graphisme de Corbeille">
            <a:extLst>
              <a:ext uri="{FF2B5EF4-FFF2-40B4-BE49-F238E27FC236}">
                <a16:creationId xmlns:a16="http://schemas.microsoft.com/office/drawing/2014/main" id="{EDB4B58C-F60B-48DA-BCAD-2112E9BE7B4D}"/>
              </a:ext>
            </a:extLst>
          </p:cNvPr>
          <p:cNvGrpSpPr/>
          <p:nvPr/>
        </p:nvGrpSpPr>
        <p:grpSpPr>
          <a:xfrm>
            <a:off x="10990548" y="876479"/>
            <a:ext cx="687382" cy="687382"/>
            <a:chOff x="11174860" y="467747"/>
            <a:chExt cx="687382" cy="687382"/>
          </a:xfrm>
        </p:grpSpPr>
        <p:sp>
          <p:nvSpPr>
            <p:cNvPr id="53" name="Ovale 52" title="Graphismes d’arrière-plan circulaires">
              <a:extLst>
                <a:ext uri="{FF2B5EF4-FFF2-40B4-BE49-F238E27FC236}">
                  <a16:creationId xmlns:a16="http://schemas.microsoft.com/office/drawing/2014/main" id="{FAD8A723-1B46-4241-82C6-307FB9AFAA72}"/>
                </a:ext>
              </a:extLst>
            </p:cNvPr>
            <p:cNvSpPr/>
            <p:nvPr/>
          </p:nvSpPr>
          <p:spPr>
            <a:xfrm>
              <a:off x="11174860" y="467747"/>
              <a:ext cx="687382" cy="6873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/>
            </a:p>
          </p:txBody>
        </p:sp>
        <p:sp>
          <p:nvSpPr>
            <p:cNvPr id="49" name="Graphisme 47" title="Icône de Corbeille">
              <a:extLst>
                <a:ext uri="{FF2B5EF4-FFF2-40B4-BE49-F238E27FC236}">
                  <a16:creationId xmlns:a16="http://schemas.microsoft.com/office/drawing/2014/main" id="{8DA3E33B-4A06-4660-8AE8-549D26985401}"/>
                </a:ext>
              </a:extLst>
            </p:cNvPr>
            <p:cNvSpPr/>
            <p:nvPr/>
          </p:nvSpPr>
          <p:spPr>
            <a:xfrm>
              <a:off x="11388555" y="650855"/>
              <a:ext cx="259992" cy="321166"/>
            </a:xfrm>
            <a:custGeom>
              <a:avLst/>
              <a:gdLst>
                <a:gd name="connsiteX0" fmla="*/ 407881 w 418718"/>
                <a:gd name="connsiteY0" fmla="*/ 116995 h 517240"/>
                <a:gd name="connsiteX1" fmla="*/ 406403 w 418718"/>
                <a:gd name="connsiteY1" fmla="*/ 129803 h 517240"/>
                <a:gd name="connsiteX2" fmla="*/ 19951 w 418718"/>
                <a:gd name="connsiteY2" fmla="*/ 129803 h 517240"/>
                <a:gd name="connsiteX3" fmla="*/ 18473 w 418718"/>
                <a:gd name="connsiteY3" fmla="*/ 116995 h 517240"/>
                <a:gd name="connsiteX4" fmla="*/ 78818 w 418718"/>
                <a:gd name="connsiteY4" fmla="*/ 57635 h 517240"/>
                <a:gd name="connsiteX5" fmla="*/ 136453 w 418718"/>
                <a:gd name="connsiteY5" fmla="*/ 57635 h 517240"/>
                <a:gd name="connsiteX6" fmla="*/ 175122 w 418718"/>
                <a:gd name="connsiteY6" fmla="*/ 18474 h 517240"/>
                <a:gd name="connsiteX7" fmla="*/ 175369 w 418718"/>
                <a:gd name="connsiteY7" fmla="*/ 18473 h 517240"/>
                <a:gd name="connsiteX8" fmla="*/ 251231 w 418718"/>
                <a:gd name="connsiteY8" fmla="*/ 18473 h 517240"/>
                <a:gd name="connsiteX9" fmla="*/ 289408 w 418718"/>
                <a:gd name="connsiteY9" fmla="*/ 57389 h 517240"/>
                <a:gd name="connsiteX10" fmla="*/ 289408 w 418718"/>
                <a:gd name="connsiteY10" fmla="*/ 57389 h 517240"/>
                <a:gd name="connsiteX11" fmla="*/ 347044 w 418718"/>
                <a:gd name="connsiteY11" fmla="*/ 57389 h 517240"/>
                <a:gd name="connsiteX12" fmla="*/ 407881 w 418718"/>
                <a:gd name="connsiteY12" fmla="*/ 116995 h 517240"/>
                <a:gd name="connsiteX13" fmla="*/ 36453 w 418718"/>
                <a:gd name="connsiteY13" fmla="*/ 157389 h 517240"/>
                <a:gd name="connsiteX14" fmla="*/ 389901 w 418718"/>
                <a:gd name="connsiteY14" fmla="*/ 157389 h 517240"/>
                <a:gd name="connsiteX15" fmla="*/ 389901 w 418718"/>
                <a:gd name="connsiteY15" fmla="*/ 456896 h 517240"/>
                <a:gd name="connsiteX16" fmla="*/ 349507 w 418718"/>
                <a:gd name="connsiteY16" fmla="*/ 509359 h 517240"/>
                <a:gd name="connsiteX17" fmla="*/ 336453 w 418718"/>
                <a:gd name="connsiteY17" fmla="*/ 511083 h 517240"/>
                <a:gd name="connsiteX18" fmla="*/ 87931 w 418718"/>
                <a:gd name="connsiteY18" fmla="*/ 511083 h 517240"/>
                <a:gd name="connsiteX19" fmla="*/ 36452 w 418718"/>
                <a:gd name="connsiteY19" fmla="*/ 457172 h 517240"/>
                <a:gd name="connsiteX20" fmla="*/ 36453 w 418718"/>
                <a:gd name="connsiteY20" fmla="*/ 457142 h 517240"/>
                <a:gd name="connsiteX21" fmla="*/ 36453 w 418718"/>
                <a:gd name="connsiteY21" fmla="*/ 157635 h 517240"/>
                <a:gd name="connsiteX22" fmla="*/ 282758 w 418718"/>
                <a:gd name="connsiteY22" fmla="*/ 440640 h 517240"/>
                <a:gd name="connsiteX23" fmla="*/ 300492 w 418718"/>
                <a:gd name="connsiteY23" fmla="*/ 458374 h 517240"/>
                <a:gd name="connsiteX24" fmla="*/ 301724 w 418718"/>
                <a:gd name="connsiteY24" fmla="*/ 458374 h 517240"/>
                <a:gd name="connsiteX25" fmla="*/ 318719 w 418718"/>
                <a:gd name="connsiteY25" fmla="*/ 439654 h 517240"/>
                <a:gd name="connsiteX26" fmla="*/ 318719 w 418718"/>
                <a:gd name="connsiteY26" fmla="*/ 229556 h 517240"/>
                <a:gd name="connsiteX27" fmla="*/ 318719 w 418718"/>
                <a:gd name="connsiteY27" fmla="*/ 222906 h 517240"/>
                <a:gd name="connsiteX28" fmla="*/ 296379 w 418718"/>
                <a:gd name="connsiteY28" fmla="*/ 210762 h 517240"/>
                <a:gd name="connsiteX29" fmla="*/ 283497 w 418718"/>
                <a:gd name="connsiteY29" fmla="*/ 227832 h 517240"/>
                <a:gd name="connsiteX30" fmla="*/ 283497 w 418718"/>
                <a:gd name="connsiteY30" fmla="*/ 440640 h 517240"/>
                <a:gd name="connsiteX31" fmla="*/ 194088 w 418718"/>
                <a:gd name="connsiteY31" fmla="*/ 440640 h 517240"/>
                <a:gd name="connsiteX32" fmla="*/ 211822 w 418718"/>
                <a:gd name="connsiteY32" fmla="*/ 458374 h 517240"/>
                <a:gd name="connsiteX33" fmla="*/ 215517 w 418718"/>
                <a:gd name="connsiteY33" fmla="*/ 458374 h 517240"/>
                <a:gd name="connsiteX34" fmla="*/ 232019 w 418718"/>
                <a:gd name="connsiteY34" fmla="*/ 439654 h 517240"/>
                <a:gd name="connsiteX35" fmla="*/ 232019 w 418718"/>
                <a:gd name="connsiteY35" fmla="*/ 229310 h 517240"/>
                <a:gd name="connsiteX36" fmla="*/ 232019 w 418718"/>
                <a:gd name="connsiteY36" fmla="*/ 222906 h 517240"/>
                <a:gd name="connsiteX37" fmla="*/ 214532 w 418718"/>
                <a:gd name="connsiteY37" fmla="*/ 209852 h 517240"/>
                <a:gd name="connsiteX38" fmla="*/ 197044 w 418718"/>
                <a:gd name="connsiteY38" fmla="*/ 228078 h 517240"/>
                <a:gd name="connsiteX39" fmla="*/ 197044 w 418718"/>
                <a:gd name="connsiteY39" fmla="*/ 440640 h 517240"/>
                <a:gd name="connsiteX40" fmla="*/ 105419 w 418718"/>
                <a:gd name="connsiteY40" fmla="*/ 440640 h 517240"/>
                <a:gd name="connsiteX41" fmla="*/ 123153 w 418718"/>
                <a:gd name="connsiteY41" fmla="*/ 458374 h 517240"/>
                <a:gd name="connsiteX42" fmla="*/ 123153 w 418718"/>
                <a:gd name="connsiteY42" fmla="*/ 458374 h 517240"/>
                <a:gd name="connsiteX43" fmla="*/ 141641 w 418718"/>
                <a:gd name="connsiteY43" fmla="*/ 441948 h 517240"/>
                <a:gd name="connsiteX44" fmla="*/ 141625 w 418718"/>
                <a:gd name="connsiteY44" fmla="*/ 439654 h 517240"/>
                <a:gd name="connsiteX45" fmla="*/ 141625 w 418718"/>
                <a:gd name="connsiteY45" fmla="*/ 229310 h 517240"/>
                <a:gd name="connsiteX46" fmla="*/ 141625 w 418718"/>
                <a:gd name="connsiteY46" fmla="*/ 222906 h 517240"/>
                <a:gd name="connsiteX47" fmla="*/ 120363 w 418718"/>
                <a:gd name="connsiteY47" fmla="*/ 209605 h 517240"/>
                <a:gd name="connsiteX48" fmla="*/ 106650 w 418718"/>
                <a:gd name="connsiteY48" fmla="*/ 228078 h 517240"/>
                <a:gd name="connsiteX49" fmla="*/ 106650 w 418718"/>
                <a:gd name="connsiteY49" fmla="*/ 440640 h 517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18718" h="517240">
                  <a:moveTo>
                    <a:pt x="407881" y="116995"/>
                  </a:moveTo>
                  <a:cubicBezTo>
                    <a:pt x="407876" y="121306"/>
                    <a:pt x="407379" y="125603"/>
                    <a:pt x="406403" y="129803"/>
                  </a:cubicBezTo>
                  <a:lnTo>
                    <a:pt x="19951" y="129803"/>
                  </a:lnTo>
                  <a:cubicBezTo>
                    <a:pt x="18974" y="125603"/>
                    <a:pt x="18479" y="121306"/>
                    <a:pt x="18473" y="116995"/>
                  </a:cubicBezTo>
                  <a:cubicBezTo>
                    <a:pt x="19011" y="84053"/>
                    <a:pt x="45871" y="57631"/>
                    <a:pt x="78818" y="57635"/>
                  </a:cubicBezTo>
                  <a:lnTo>
                    <a:pt x="136453" y="57635"/>
                  </a:lnTo>
                  <a:cubicBezTo>
                    <a:pt x="136317" y="36143"/>
                    <a:pt x="153630" y="18610"/>
                    <a:pt x="175122" y="18474"/>
                  </a:cubicBezTo>
                  <a:cubicBezTo>
                    <a:pt x="175204" y="18473"/>
                    <a:pt x="175287" y="18473"/>
                    <a:pt x="175369" y="18473"/>
                  </a:cubicBezTo>
                  <a:lnTo>
                    <a:pt x="251231" y="18473"/>
                  </a:lnTo>
                  <a:cubicBezTo>
                    <a:pt x="272492" y="18743"/>
                    <a:pt x="289546" y="36127"/>
                    <a:pt x="289408" y="57389"/>
                  </a:cubicBezTo>
                  <a:lnTo>
                    <a:pt x="289408" y="57389"/>
                  </a:lnTo>
                  <a:lnTo>
                    <a:pt x="347044" y="57389"/>
                  </a:lnTo>
                  <a:cubicBezTo>
                    <a:pt x="380278" y="57115"/>
                    <a:pt x="407475" y="83763"/>
                    <a:pt x="407881" y="116995"/>
                  </a:cubicBezTo>
                  <a:close/>
                  <a:moveTo>
                    <a:pt x="36453" y="157389"/>
                  </a:moveTo>
                  <a:lnTo>
                    <a:pt x="389901" y="157389"/>
                  </a:lnTo>
                  <a:lnTo>
                    <a:pt x="389901" y="456896"/>
                  </a:lnTo>
                  <a:cubicBezTo>
                    <a:pt x="390566" y="481746"/>
                    <a:pt x="373699" y="503649"/>
                    <a:pt x="349507" y="509359"/>
                  </a:cubicBezTo>
                  <a:cubicBezTo>
                    <a:pt x="345261" y="510553"/>
                    <a:pt x="340864" y="511132"/>
                    <a:pt x="336453" y="511083"/>
                  </a:cubicBezTo>
                  <a:lnTo>
                    <a:pt x="87931" y="511083"/>
                  </a:lnTo>
                  <a:cubicBezTo>
                    <a:pt x="58828" y="510410"/>
                    <a:pt x="35780" y="486273"/>
                    <a:pt x="36452" y="457172"/>
                  </a:cubicBezTo>
                  <a:cubicBezTo>
                    <a:pt x="36453" y="457162"/>
                    <a:pt x="36453" y="457152"/>
                    <a:pt x="36453" y="457142"/>
                  </a:cubicBezTo>
                  <a:lnTo>
                    <a:pt x="36453" y="157635"/>
                  </a:lnTo>
                  <a:close/>
                  <a:moveTo>
                    <a:pt x="282758" y="440640"/>
                  </a:moveTo>
                  <a:cubicBezTo>
                    <a:pt x="282758" y="450433"/>
                    <a:pt x="290699" y="458374"/>
                    <a:pt x="300492" y="458374"/>
                  </a:cubicBezTo>
                  <a:lnTo>
                    <a:pt x="301724" y="458374"/>
                  </a:lnTo>
                  <a:cubicBezTo>
                    <a:pt x="311561" y="457842"/>
                    <a:pt x="319137" y="449497"/>
                    <a:pt x="318719" y="439654"/>
                  </a:cubicBezTo>
                  <a:lnTo>
                    <a:pt x="318719" y="229556"/>
                  </a:lnTo>
                  <a:cubicBezTo>
                    <a:pt x="318960" y="227346"/>
                    <a:pt x="318960" y="225116"/>
                    <a:pt x="318719" y="222906"/>
                  </a:cubicBezTo>
                  <a:cubicBezTo>
                    <a:pt x="315903" y="213383"/>
                    <a:pt x="305901" y="207947"/>
                    <a:pt x="296379" y="210762"/>
                  </a:cubicBezTo>
                  <a:cubicBezTo>
                    <a:pt x="288800" y="213004"/>
                    <a:pt x="283573" y="219930"/>
                    <a:pt x="283497" y="227832"/>
                  </a:cubicBezTo>
                  <a:lnTo>
                    <a:pt x="283497" y="440640"/>
                  </a:lnTo>
                  <a:close/>
                  <a:moveTo>
                    <a:pt x="194088" y="440640"/>
                  </a:moveTo>
                  <a:cubicBezTo>
                    <a:pt x="194088" y="450433"/>
                    <a:pt x="202028" y="458374"/>
                    <a:pt x="211822" y="458374"/>
                  </a:cubicBezTo>
                  <a:lnTo>
                    <a:pt x="215517" y="458374"/>
                  </a:lnTo>
                  <a:cubicBezTo>
                    <a:pt x="225220" y="457714"/>
                    <a:pt x="232582" y="449364"/>
                    <a:pt x="232019" y="439654"/>
                  </a:cubicBezTo>
                  <a:lnTo>
                    <a:pt x="232019" y="229310"/>
                  </a:lnTo>
                  <a:cubicBezTo>
                    <a:pt x="232513" y="227204"/>
                    <a:pt x="232513" y="225012"/>
                    <a:pt x="232019" y="222906"/>
                  </a:cubicBezTo>
                  <a:cubicBezTo>
                    <a:pt x="229874" y="215059"/>
                    <a:pt x="222665" y="209677"/>
                    <a:pt x="214532" y="209852"/>
                  </a:cubicBezTo>
                  <a:cubicBezTo>
                    <a:pt x="204698" y="210120"/>
                    <a:pt x="196906" y="218242"/>
                    <a:pt x="197044" y="228078"/>
                  </a:cubicBezTo>
                  <a:lnTo>
                    <a:pt x="197044" y="440640"/>
                  </a:lnTo>
                  <a:close/>
                  <a:moveTo>
                    <a:pt x="105419" y="440640"/>
                  </a:moveTo>
                  <a:cubicBezTo>
                    <a:pt x="105419" y="450433"/>
                    <a:pt x="113358" y="458374"/>
                    <a:pt x="123153" y="458374"/>
                  </a:cubicBezTo>
                  <a:lnTo>
                    <a:pt x="123153" y="458374"/>
                  </a:lnTo>
                  <a:cubicBezTo>
                    <a:pt x="132794" y="458943"/>
                    <a:pt x="141071" y="451588"/>
                    <a:pt x="141641" y="441948"/>
                  </a:cubicBezTo>
                  <a:cubicBezTo>
                    <a:pt x="141686" y="441184"/>
                    <a:pt x="141681" y="440418"/>
                    <a:pt x="141625" y="439654"/>
                  </a:cubicBezTo>
                  <a:lnTo>
                    <a:pt x="141625" y="229310"/>
                  </a:lnTo>
                  <a:cubicBezTo>
                    <a:pt x="142119" y="227204"/>
                    <a:pt x="142119" y="225012"/>
                    <a:pt x="141625" y="222906"/>
                  </a:cubicBezTo>
                  <a:cubicBezTo>
                    <a:pt x="139427" y="213362"/>
                    <a:pt x="129908" y="207407"/>
                    <a:pt x="120363" y="209605"/>
                  </a:cubicBezTo>
                  <a:cubicBezTo>
                    <a:pt x="111876" y="211560"/>
                    <a:pt x="106065" y="219389"/>
                    <a:pt x="106650" y="228078"/>
                  </a:cubicBezTo>
                  <a:lnTo>
                    <a:pt x="106650" y="44064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/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8DC1F28-E3FD-416B-8C76-7556A49440F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fr-FR" smtClean="0"/>
              <a:pPr rtl="0"/>
              <a:t>20</a:t>
            </a:fld>
            <a:endParaRPr lang="fr-FR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61A02E3A-E7B4-45B1-9EBC-3DB4D41F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/>
              <a:t>How to customize this template</a:t>
            </a:r>
          </a:p>
        </p:txBody>
      </p:sp>
      <p:sp>
        <p:nvSpPr>
          <p:cNvPr id="32" name="Graphisme 18" title="Flèche - Instructions d’utilisation du modèle">
            <a:extLst>
              <a:ext uri="{FF2B5EF4-FFF2-40B4-BE49-F238E27FC236}">
                <a16:creationId xmlns:a16="http://schemas.microsoft.com/office/drawing/2014/main" id="{1C423936-E785-4AA4-AE30-B44E99C3D5C5}"/>
              </a:ext>
            </a:extLst>
          </p:cNvPr>
          <p:cNvSpPr/>
          <p:nvPr/>
        </p:nvSpPr>
        <p:spPr>
          <a:xfrm rot="5780139" flipV="1">
            <a:off x="3285983" y="4533966"/>
            <a:ext cx="659696" cy="821727"/>
          </a:xfrm>
          <a:custGeom>
            <a:avLst/>
            <a:gdLst>
              <a:gd name="connsiteX0" fmla="*/ 27380 w 542925"/>
              <a:gd name="connsiteY0" fmla="*/ 669232 h 676275"/>
              <a:gd name="connsiteX1" fmla="*/ 138823 w 542925"/>
              <a:gd name="connsiteY1" fmla="*/ 376814 h 676275"/>
              <a:gd name="connsiteX2" fmla="*/ 352183 w 542925"/>
              <a:gd name="connsiteY2" fmla="*/ 147262 h 676275"/>
              <a:gd name="connsiteX3" fmla="*/ 485533 w 542925"/>
              <a:gd name="connsiteY3" fmla="*/ 68204 h 676275"/>
              <a:gd name="connsiteX4" fmla="*/ 469340 w 542925"/>
              <a:gd name="connsiteY4" fmla="*/ 96779 h 676275"/>
              <a:gd name="connsiteX5" fmla="*/ 416953 w 542925"/>
              <a:gd name="connsiteY5" fmla="*/ 192029 h 676275"/>
              <a:gd name="connsiteX6" fmla="*/ 433145 w 542925"/>
              <a:gd name="connsiteY6" fmla="*/ 216794 h 676275"/>
              <a:gd name="connsiteX7" fmla="*/ 484580 w 542925"/>
              <a:gd name="connsiteY7" fmla="*/ 124402 h 676275"/>
              <a:gd name="connsiteX8" fmla="*/ 509345 w 542925"/>
              <a:gd name="connsiteY8" fmla="*/ 78682 h 676275"/>
              <a:gd name="connsiteX9" fmla="*/ 536015 w 542925"/>
              <a:gd name="connsiteY9" fmla="*/ 37724 h 676275"/>
              <a:gd name="connsiteX10" fmla="*/ 524585 w 542925"/>
              <a:gd name="connsiteY10" fmla="*/ 7244 h 676275"/>
              <a:gd name="connsiteX11" fmla="*/ 297890 w 542925"/>
              <a:gd name="connsiteY11" fmla="*/ 39629 h 676275"/>
              <a:gd name="connsiteX12" fmla="*/ 307415 w 542925"/>
              <a:gd name="connsiteY12" fmla="*/ 71062 h 676275"/>
              <a:gd name="connsiteX13" fmla="*/ 436003 w 542925"/>
              <a:gd name="connsiteY13" fmla="*/ 54869 h 676275"/>
              <a:gd name="connsiteX14" fmla="*/ 233120 w 542925"/>
              <a:gd name="connsiteY14" fmla="*/ 208222 h 676275"/>
              <a:gd name="connsiteX15" fmla="*/ 57860 w 542925"/>
              <a:gd name="connsiteY15" fmla="*/ 473969 h 676275"/>
              <a:gd name="connsiteX16" fmla="*/ 7378 w 542925"/>
              <a:gd name="connsiteY16" fmla="*/ 648277 h 676275"/>
              <a:gd name="connsiteX17" fmla="*/ 14045 w 542925"/>
              <a:gd name="connsiteY17" fmla="*/ 670184 h 676275"/>
              <a:gd name="connsiteX18" fmla="*/ 27380 w 542925"/>
              <a:gd name="connsiteY18" fmla="*/ 669232 h 67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2925" h="676275">
                <a:moveTo>
                  <a:pt x="27380" y="669232"/>
                </a:moveTo>
                <a:cubicBezTo>
                  <a:pt x="44525" y="565409"/>
                  <a:pt x="83578" y="465397"/>
                  <a:pt x="138823" y="376814"/>
                </a:cubicBezTo>
                <a:cubicBezTo>
                  <a:pt x="195020" y="288232"/>
                  <a:pt x="267410" y="209174"/>
                  <a:pt x="352183" y="147262"/>
                </a:cubicBezTo>
                <a:cubicBezTo>
                  <a:pt x="394093" y="116782"/>
                  <a:pt x="438860" y="90112"/>
                  <a:pt x="485533" y="68204"/>
                </a:cubicBezTo>
                <a:cubicBezTo>
                  <a:pt x="479818" y="77729"/>
                  <a:pt x="475055" y="87254"/>
                  <a:pt x="469340" y="96779"/>
                </a:cubicBezTo>
                <a:cubicBezTo>
                  <a:pt x="452195" y="128212"/>
                  <a:pt x="434098" y="160597"/>
                  <a:pt x="416953" y="192029"/>
                </a:cubicBezTo>
                <a:cubicBezTo>
                  <a:pt x="412190" y="201554"/>
                  <a:pt x="425525" y="230129"/>
                  <a:pt x="433145" y="216794"/>
                </a:cubicBezTo>
                <a:cubicBezTo>
                  <a:pt x="450290" y="186314"/>
                  <a:pt x="467435" y="154882"/>
                  <a:pt x="484580" y="124402"/>
                </a:cubicBezTo>
                <a:cubicBezTo>
                  <a:pt x="493153" y="109162"/>
                  <a:pt x="501725" y="93922"/>
                  <a:pt x="509345" y="78682"/>
                </a:cubicBezTo>
                <a:cubicBezTo>
                  <a:pt x="516965" y="64394"/>
                  <a:pt x="523633" y="48202"/>
                  <a:pt x="536015" y="37724"/>
                </a:cubicBezTo>
                <a:cubicBezTo>
                  <a:pt x="543635" y="31057"/>
                  <a:pt x="535063" y="5339"/>
                  <a:pt x="524585" y="7244"/>
                </a:cubicBezTo>
                <a:cubicBezTo>
                  <a:pt x="449338" y="21532"/>
                  <a:pt x="374090" y="32009"/>
                  <a:pt x="297890" y="39629"/>
                </a:cubicBezTo>
                <a:cubicBezTo>
                  <a:pt x="287413" y="40582"/>
                  <a:pt x="295033" y="72967"/>
                  <a:pt x="307415" y="71062"/>
                </a:cubicBezTo>
                <a:cubicBezTo>
                  <a:pt x="350278" y="66299"/>
                  <a:pt x="393140" y="61537"/>
                  <a:pt x="436003" y="54869"/>
                </a:cubicBezTo>
                <a:cubicBezTo>
                  <a:pt x="360755" y="94874"/>
                  <a:pt x="292175" y="147262"/>
                  <a:pt x="233120" y="208222"/>
                </a:cubicBezTo>
                <a:cubicBezTo>
                  <a:pt x="158825" y="284422"/>
                  <a:pt x="98818" y="375862"/>
                  <a:pt x="57860" y="473969"/>
                </a:cubicBezTo>
                <a:cubicBezTo>
                  <a:pt x="35000" y="530167"/>
                  <a:pt x="17855" y="588269"/>
                  <a:pt x="7378" y="648277"/>
                </a:cubicBezTo>
                <a:cubicBezTo>
                  <a:pt x="6425" y="655897"/>
                  <a:pt x="8330" y="665422"/>
                  <a:pt x="14045" y="670184"/>
                </a:cubicBezTo>
                <a:cubicBezTo>
                  <a:pt x="20713" y="676852"/>
                  <a:pt x="25475" y="675899"/>
                  <a:pt x="27380" y="66923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rt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59181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838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dcmitype/"/>
    <ds:schemaRef ds:uri="6dc4bcd6-49db-4c07-9060-8acfc67cef9f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fb0879af-3eba-417a-a55a-ffe6dcd6ca77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{A8ABD5EB-6544-4970-8118-A573B3E27869}TF992e0334-4647-4579-8d14-183019b0908c530978df_win32-28e49dbdf6c2</Template>
  <TotalTime>176</TotalTime>
  <Words>579</Words>
  <Application>Microsoft Office PowerPoint</Application>
  <PresentationFormat>Grand écran</PresentationFormat>
  <Paragraphs>104</Paragraphs>
  <Slides>20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Candara</vt:lpstr>
      <vt:lpstr>Corbel</vt:lpstr>
      <vt:lpstr>Times New Roman</vt:lpstr>
      <vt:lpstr>Wingdings</vt:lpstr>
      <vt:lpstr>Personnalisé</vt:lpstr>
      <vt:lpstr>IA TESSAN</vt:lpstr>
      <vt:lpstr>Présentation PowerPoint</vt:lpstr>
      <vt:lpstr>Présentation PowerPoint</vt:lpstr>
      <vt:lpstr>À propos de nous</vt:lpstr>
      <vt:lpstr>01_extract_features.py </vt:lpstr>
      <vt:lpstr>02_train.py</vt:lpstr>
      <vt:lpstr>On a testé 3 algorithmes différents : </vt:lpstr>
      <vt:lpstr>Présentation PowerPoint</vt:lpstr>
      <vt:lpstr>Présentation PowerPoint</vt:lpstr>
      <vt:lpstr>Présentation PowerPoint</vt:lpstr>
      <vt:lpstr>03_evaluate.py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How to 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Papy Ranchy</dc:creator>
  <cp:lastModifiedBy>Papy Ranchy</cp:lastModifiedBy>
  <cp:revision>4</cp:revision>
  <dcterms:created xsi:type="dcterms:W3CDTF">2026-03-24T12:57:48Z</dcterms:created>
  <dcterms:modified xsi:type="dcterms:W3CDTF">2026-03-24T20:44:16Z</dcterms:modified>
</cp:coreProperties>
</file>